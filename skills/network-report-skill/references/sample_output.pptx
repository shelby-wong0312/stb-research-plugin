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oney.udn.com/money/story/122331/8419526" TargetMode="External"/><Relationship Id="rId3" Type="http://schemas.openxmlformats.org/officeDocument/2006/relationships/hyperlink" Target="https://www.cw.com.tw/article/5125xxx" TargetMode="External"/><Relationship Id="rId4" Type="http://schemas.openxmlformats.org/officeDocument/2006/relationships/hyperlink" Target="https://mops.twse.com.tw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oney.udn.com/money/story/122331/8419526" TargetMode="External"/><Relationship Id="rId3" Type="http://schemas.openxmlformats.org/officeDocument/2006/relationships/hyperlink" Target="https://www.cw.com.tw/article/5125xxx" TargetMode="External"/><Relationship Id="rId4" Type="http://schemas.openxmlformats.org/officeDocument/2006/relationships/hyperlink" Target="https://mops.twse.com.tw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C6A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葉寅夫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3383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億光電子董事長兼總經理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114800"/>
            <a:ext cx="1828800" cy="36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台灣LED教父 ｜ 全球第五大LED封裝廠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1. 個人介紹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2. 朋友圈總覽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3. 核心圈（創業夥伴與交惡對象）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4. 企業圈（董事會與經營團隊）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5. 協會與政商圈（TOSIA/億光文化基金會）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6. 政策與產業推手圈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79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7. 學術校友圈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82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8. 思想與論壇引路人圈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85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9. 媒體與公開平台圈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10. 必須迴避對象與引薦建議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91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11. 家族成員及企業版圖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葉寅夫簡介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</a:defRPr>
            </a:pPr>
            <a:r>
              <a:t>葉寅夫 Yin-Fu Yeh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1951年生（74歲）｜苗栗縣苑裡鎮</a:t>
            </a:r>
            <a:br/>
            <a:r>
              <a:t>億光電子董事長兼總經理</a:t>
            </a:r>
            <a:br/>
            <a:r>
              <a:t>泰谷光電董事長、億光智能科技董事長</a:t>
            </a:r>
            <a:br/>
            <a:r>
              <a:t>個人持股：14,169張（3.20%）｜質押率：0%</a:t>
            </a:r>
            <a:br/>
            <a:r>
              <a:t>投資興趣：LED、不可見光/穿戴裝置、碳化矽（SiC）第三代半導體、矽光子、太陽能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51760"/>
          <a:ext cx="484631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277"/>
                <a:gridCol w="3826042"/>
              </a:tblGrid>
              <a:tr h="50292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學歷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台北工專電子科（1972年，現北科大）</a:t>
                      </a:r>
                    </a:p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政治大學公企班</a:t>
                      </a:r>
                    </a:p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北科大工學名譽博士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現任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億光電子董事長兼總經理</a:t>
                      </a:r>
                    </a:p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泰谷光電董事長、億光智能科技董事長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榮譽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北科大89年傑出校友（2000年）</a:t>
                      </a:r>
                    </a:p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日亞化專利戰美國最高法院勝訴（2018年）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職涯關鍵里程碑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1972 — 台北工專畢業，進入TRW/光寶工作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1983.5.28 — 創立億光電子，初期資本500萬元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0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1990 — 獲夏普代工訂單，奠定龍頭地位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945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1999.11.4 — 億光台灣證交所上市（2393）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606040"/>
            <a:ext cx="594360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6974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</a:defRPr>
            </a:pPr>
            <a:r>
              <a:t>核心經營哲學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9718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350F"/>
                </a:solidFill>
              </a:defRPr>
            </a:pPr>
            <a:r>
              <a:t>「我在LED界，是沒有朋友的！」——競爭激進、不留情面</a:t>
            </a:r>
            <a:br/>
            <a:r>
              <a:t>「能讓競爭對手緊張，讓同業抱怨，我都覺得很光榮！」</a:t>
            </a:r>
            <a:br/>
            <a:r>
              <a:t>軍事化紀律｜成本控制極致｜良率標準99.9%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來源：億光年報、天下雜誌、今周刊、LEDinside、北科大校訊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朋友圈總覽  「創業夥伴與交惡對象（負向關係密度極高」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1. 核心圈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創業夥伴與交惡對象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簡文秀🟢、日亞化🔴、丁憲治🔴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2. 企業圈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董事會與經營團隊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葉丁瑋、周博文、陳良基等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3. 協會與政商圈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TOSIA/億光文化基金會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汪秉龍、徐耀昌等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4. 政策與產業推手圈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LED產業領袖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李秉傑🟡、宋恭源🔴等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5. 學術校友圈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北科大校友系統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王錫福、傑出校友群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6. 思想與論壇引路人圈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經營理念與啟發者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簡文秀、張炳煌等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7. 媒體與公開平台圈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51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重要曝光與訴訟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日亞化專利戰、首爾半導體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8404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8. 必須迴避對象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251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⚠️ 高風險名單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日亞化、丁憲治、宋恭源等10人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智慧經營／慶豐富董事長許閔琁 三路打造韌性供應鏈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少年董接班9年 毛利破紀錄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億光年報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核心圈  創業夥伴與交惡對象（負向關係密度極高）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🟢 正向關係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33855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48"/>
                <a:gridCol w="3334870"/>
                <a:gridCol w="1111623"/>
                <a:gridCol w="5558117"/>
              </a:tblGrid>
              <a:tr h="38404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關鍵互動脈絡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簡文秀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聲樂家/億光文化基金會董事長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2005年結婚之妻，每年捐助弱勢200萬元 ✅優先引薦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🔴 負向關係（須迴避）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05456"/>
          <a:ext cx="1133855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48"/>
                <a:gridCol w="3334870"/>
                <a:gridCol w="1111623"/>
                <a:gridCol w="5558117"/>
              </a:tblGrid>
              <a:tr h="38404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關鍵互動脈絡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日亞化學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日本LED龍頭（小川英治）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纏訟近20年專利戰 ❌絕對迴避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丁憲治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億光前總經理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相識30年夥伴背叛，挪用公款入獄 ❌絕對迴避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智慧經營／慶豐富董事長許閔琁 三路打造韌性供應鏈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少年董接班9年 毛利破紀錄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億光年報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企業圈  億光電子董事會與經營團隊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現任董事會成員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3035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093720"/>
                <a:gridCol w="88392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職位/背景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葉寅夫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董事長兼總經理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葉丁瑋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副總經理暨董事（長子）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核心經營團隊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463040"/>
          <a:ext cx="53035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4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職位與專長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盧俊侑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會計主管暨公司治理主管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陳儀真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副總經理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來源：億光公司治理頁面、公開資訊觀測站、中央社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協會與政商圈  TOSIA與億光文化基金會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台灣光電暨化合物半導體產業協會（TOSIA）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葉寅夫角色：理事（第一至六屆），第七屆起改由億光代表人擔任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45920"/>
          <a:ext cx="113385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669280"/>
                <a:gridCol w="2834640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汪秉龍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宏齊科技董事長/TOSIA理事長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來源：TOSIA官網、億光文化基金會、自由時報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政策與產業推手圈  LED產業領袖關係總覽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3385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現任職稱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所屬領域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互動事證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李秉傑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前晶電董事長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LED上游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🟡中性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曾任晶電董事長近10年，供應鏈關係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920240"/>
            <a:ext cx="11338560" cy="457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早期關係（現已疏遠）：顧筑光⚪、石修⚪...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來源：今周刊、天下雜誌、工商時報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學術校友圈  國立台北科技大學（前台北工專）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4864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學歷背景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國立台北工專電子科（1972年畢業）</a:t>
            </a:r>
            <a:br/>
            <a:r>
              <a:t>• 政治大學企業家經營管理研究班</a:t>
            </a:r>
            <a:br/>
            <a:r>
              <a:t>• 北科大工學名譽博士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486400" cy="13716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</a:defRPr>
            </a:pPr>
            <a:r>
              <a:t>母校貢獻與榮譽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350F"/>
                </a:solidFill>
              </a:defRPr>
            </a:pPr>
            <a:r>
              <a:t>• 2000年：獲頒北科大89年傑出校友</a:t>
            </a:r>
            <a:br/>
            <a:r>
              <a:t>• 2011年：捐贈1億元興建「億光大樓」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校友圈人物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926080"/>
          <a:ext cx="113385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3401568"/>
                <a:gridCol w="1133856"/>
                <a:gridCol w="5102352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校友名稱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現任職稱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互動證據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王錫福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國立台北科技大學校長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共同出席校園活動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5120640"/>
            <a:ext cx="11338560" cy="457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葉寅夫曾提及：「老師再三勸我穩守代工...」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來源：北科大校訊、億光年報、經濟日報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思想與論壇引路人圈  經營理念與啟發者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思想影響者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33855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3239588"/>
                <a:gridCol w="1079862"/>
                <a:gridCol w="5399314"/>
              </a:tblGrid>
              <a:tr h="38404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身份/職稱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影響說明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簡文秀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聲樂家/億光文化基金會董事長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最重要支持力量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葉寅夫經典語錄（反映經營哲學）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4903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22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「我在LED界，是沒有朋友的！」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5195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2511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「能讓競爭對手緊張，讓同業抱怨，我都覺得很光榮！」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5487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2803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「結果比過程重要。」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來源：工商時報CEO專訪、天下雜誌、LEDinside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媒體與公開平台圈  重要曝光與訴訟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🟢 正面事件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338558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708"/>
                <a:gridCol w="2337847"/>
                <a:gridCol w="1168923"/>
                <a:gridCol w="64290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媒體/平台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性質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內容摘要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2000年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北科大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獲頒89年傑出校友獎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1579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🔴 負面事件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32304"/>
          <a:ext cx="11338558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708"/>
                <a:gridCol w="2337847"/>
                <a:gridCol w="1168923"/>
                <a:gridCol w="64290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媒體/平台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性質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內容摘要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2006年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高等法院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丁憲治業務侵占罪判刑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來源：經濟日報、科技新報、中央社、法院判決書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必須迴避對象與引薦建議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❌ 必須迴避對象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486398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2351314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迴避原因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日亞化學相關人員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日本LED龍頭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專利訴訟近20年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✅ 優先引薦管道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280160"/>
          <a:ext cx="5394959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2312125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引薦方式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簡文秀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聲樂家/基金會董事長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公益音樂會、慈善活動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來源：今周刊、天下雜誌、法院判決、億光年報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家族樹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1887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8096"/>
                </a:solidFill>
              </a:defRPr>
            </a:pPr>
            <a:r>
              <a:t>G0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0910" y="1051560"/>
            <a:ext cx="1417320" cy="777240"/>
          </a:xfrm>
          <a:prstGeom prst="roundRect">
            <a:avLst/>
          </a:prstGeom>
          <a:solidFill>
            <a:srgbClr val="BEE3F8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葉父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父親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資訊待確認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2550" y="1051560"/>
            <a:ext cx="1417320" cy="777240"/>
          </a:xfrm>
          <a:prstGeom prst="roundRect">
            <a:avLst/>
          </a:prstGeom>
          <a:solidFill>
            <a:srgbClr val="BEE3F8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葉母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母親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資訊待確認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3774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8096"/>
                </a:solidFill>
              </a:defRPr>
            </a:pPr>
            <a:r>
              <a:t>G1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5090" y="2240280"/>
            <a:ext cx="1417320" cy="777240"/>
          </a:xfrm>
          <a:prstGeom prst="roundRect">
            <a:avLst/>
          </a:prstGeom>
          <a:solidFill>
            <a:srgbClr val="C6F6D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葉寅夫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本人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億光電子董事長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6730" y="2240280"/>
            <a:ext cx="1417320" cy="77724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簡文秀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配偶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聲樂家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8370" y="2240280"/>
            <a:ext cx="1417320" cy="77724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葉武炎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弟弟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億光大陸主管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5661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8096"/>
                </a:solidFill>
              </a:defRPr>
            </a:pPr>
            <a:r>
              <a:t>G2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0910" y="3429000"/>
            <a:ext cx="141732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葉丁豪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長子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泰谷光電相關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2550" y="3429000"/>
            <a:ext cx="141732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葉丁瑋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次子/接班人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億光副總暨董事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0818" y="1828800"/>
            <a:ext cx="9144" cy="18516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3750" y="2009394"/>
            <a:ext cx="3383280" cy="914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9178" y="201396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0818" y="201396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2458" y="201396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0818" y="3017520"/>
            <a:ext cx="9144" cy="18516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9570" y="3198114"/>
            <a:ext cx="1691640" cy="914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44998" y="320268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36638" y="320268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核心成員介紹 - 配偶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現任配偶：簡文秀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3035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40"/>
              </a:tblGrid>
              <a:tr h="32004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簡文秀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婚姻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2005年與葉寅夫結婚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出生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12月7日（宜蘭縣人）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4688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重要成就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19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1989年美國老布希總統就職音樂會演出</a:t>
            </a:r>
            <a:br/>
            <a:r>
              <a:t>• 2021年捐贈2000萬元予國北教大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資料來源：維基百科（簡文秀） | 今周刊 | Yahoo新聞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家族企業版圖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家族關聯企業與任職總覽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33856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3401568"/>
                <a:gridCol w="4535424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成員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與主角關係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職務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參與程度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葉寅夫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本人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董事長兼總經理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創辦人、核心領導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34086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家族關聯投資控股公司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706624"/>
          <a:ext cx="1133856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267712"/>
                <a:gridCol w="56692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投資公司名稱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代表人/關聯人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鑫旺國際投資有限公司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葉丁瑋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法人董事代表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資料來源：億光電子年報 | 公開資訊觀測站 | 經濟部商業司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家族成員及企業版圖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</a:defRPr>
            </a:pPr>
            <a:r>
              <a:t>✓ 正面觀察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白手起家，創業精神典範</a:t>
            </a:r>
            <a:br/>
            <a:r>
              <a:t>• 接班佈局清晰（葉丁瑋）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</a:defRPr>
            </a:pPr>
            <a:r>
              <a:t>⚠ 風險關注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葉寅夫已74歲，接班時程</a:t>
            </a:r>
            <a:br/>
            <a:r>
              <a:t>• 家族資訊高度不透明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➤ 建議追蹤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葉丁瑋接班進程</a:t>
            </a:r>
            <a:br/>
            <a:r>
              <a:t>• 億光股東會人事異動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關鍵結論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葉寅夫家族展現台灣第一代科技創業者向第二代過渡的典型特徵...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資料來源：本報告綜合億光電子年報、今周刊、工商時報、維基百科等來源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