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cw.com.tw/article/5114820" TargetMode="External"/><Relationship Id="rId3" Type="http://schemas.openxmlformats.org/officeDocument/2006/relationships/hyperlink" Target="https://money.udn.com" TargetMode="External"/><Relationship Id="rId4" Type="http://schemas.openxmlformats.org/officeDocument/2006/relationships/hyperlink" Target="https://www.mirrormedia.mg" TargetMode="External"/><Relationship Id="rId5" Type="http://schemas.openxmlformats.org/officeDocument/2006/relationships/hyperlink" Target="https://www.gvm.com.tw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cw.com.tw/article/5114820" TargetMode="External"/><Relationship Id="rId3" Type="http://schemas.openxmlformats.org/officeDocument/2006/relationships/hyperlink" Target="https://tw.stock.yahoo.com" TargetMode="External"/><Relationship Id="rId4" Type="http://schemas.openxmlformats.org/officeDocument/2006/relationships/hyperlink" Target="https://ec.ltn.com.tw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cw.com.tw/article/5114820" TargetMode="External"/><Relationship Id="rId3" Type="http://schemas.openxmlformats.org/officeDocument/2006/relationships/hyperlink" Target="https://tw.stock.yahoo.com" TargetMode="External"/><Relationship Id="rId4" Type="http://schemas.openxmlformats.org/officeDocument/2006/relationships/hyperlink" Target="https://ec.ltn.com.tw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qfr.com.tw" TargetMode="External"/><Relationship Id="rId3" Type="http://schemas.openxmlformats.org/officeDocument/2006/relationships/hyperlink" Target="https://mops.twse.com.tw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w.stock.yahoo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cw.com.tw/article/5114820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cw.com.tw/article/5114820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oney.udn.com" TargetMode="External"/><Relationship Id="rId3" Type="http://schemas.openxmlformats.org/officeDocument/2006/relationships/hyperlink" Target="https://www.mirrormedia.mg" TargetMode="External"/><Relationship Id="rId4" Type="http://schemas.openxmlformats.org/officeDocument/2006/relationships/hyperlink" Target="https://www.gvm.com.tw" TargetMode="External"/><Relationship Id="rId5" Type="http://schemas.openxmlformats.org/officeDocument/2006/relationships/hyperlink" Target="https://www.businessweekly.com.tw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cw.com.tw" TargetMode="External"/><Relationship Id="rId3" Type="http://schemas.openxmlformats.org/officeDocument/2006/relationships/hyperlink" Target="https://money.udn.com" TargetMode="External"/><Relationship Id="rId4" Type="http://schemas.openxmlformats.org/officeDocument/2006/relationships/hyperlink" Target="https://www.mirrormedia.mg" TargetMode="External"/><Relationship Id="rId5" Type="http://schemas.openxmlformats.org/officeDocument/2006/relationships/hyperlink" Target="https://www.wealth.com.tw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c.ltn.com.tw/article/paper/590261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c.ltn.com.tw/article/paper/590261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qfr.com.tw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cw.com.tw/article/5114820" TargetMode="External"/><Relationship Id="rId3" Type="http://schemas.openxmlformats.org/officeDocument/2006/relationships/hyperlink" Target="https://tw.stock.yahoo.com/news/&#24950;&#35920;&#23500;&#33891;&#20107;&#25913;&#36984;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qfr.com.tw" TargetMode="External"/><Relationship Id="rId3" Type="http://schemas.openxmlformats.org/officeDocument/2006/relationships/hyperlink" Target="https://mops.twse.com.tw" TargetMode="External"/><Relationship Id="rId4" Type="http://schemas.openxmlformats.org/officeDocument/2006/relationships/hyperlink" Target="https://www.cw.com.tw/article/5114820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cw.com.tw/article/5114820" TargetMode="External"/><Relationship Id="rId3" Type="http://schemas.openxmlformats.org/officeDocument/2006/relationships/hyperlink" Target="https://money.udn.com" TargetMode="External"/><Relationship Id="rId4" Type="http://schemas.openxmlformats.org/officeDocument/2006/relationships/hyperlink" Target="https://www.mirrormedia.mg" TargetMode="External"/><Relationship Id="rId5" Type="http://schemas.openxmlformats.org/officeDocument/2006/relationships/hyperlink" Target="https://www.wealth.com.tw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C6A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</a:defRPr>
            </a:pPr>
            <a:r>
              <a:t>許閔琁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338328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慶豐富實業董事長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4114800"/>
            <a:ext cx="1828800" cy="36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43891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台灣窗簾龍頭二代接班人｜全球居家生活用品領航者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目錄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65D"/>
                </a:solidFill>
              </a:defRPr>
            </a:pPr>
            <a:r>
              <a:t>1. 個人介紹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65D"/>
                </a:solidFill>
              </a:defRPr>
            </a:pPr>
            <a:r>
              <a:t>2. 朋友圈總覽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65D"/>
                </a:solidFill>
              </a:defRPr>
            </a:pPr>
            <a:r>
              <a:t>3. 核心圈（家族接班核心）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65D"/>
                </a:solidFill>
              </a:defRPr>
            </a:pPr>
            <a:r>
              <a:t>4. 企業圈（董事會與經營團隊）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65D"/>
                </a:solidFill>
              </a:defRPr>
            </a:pPr>
            <a:r>
              <a:t>5. 協會與政商圈（地方政商關係）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03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65D"/>
                </a:solidFill>
              </a:defRPr>
            </a:pPr>
            <a:r>
              <a:t>6. 政策與產業推手圈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17957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65D"/>
                </a:solidFill>
              </a:defRPr>
            </a:pPr>
            <a:r>
              <a:t>7. 學術校友圈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68249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65D"/>
                </a:solidFill>
              </a:defRPr>
            </a:pPr>
            <a:r>
              <a:t>8. 思想與論壇引路人圈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8541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65D"/>
                </a:solidFill>
              </a:defRPr>
            </a:pPr>
            <a:r>
              <a:t>9. 媒體與公開平台圈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8833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65D"/>
                </a:solidFill>
              </a:defRPr>
            </a:pPr>
            <a:r>
              <a:t>10. 必須迴避對象與引薦建議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19125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65D"/>
                </a:solidFill>
              </a:defRPr>
            </a:pPr>
            <a:r>
              <a:t>11. 家族成員及企業版圖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18096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許閔琁簡介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65D"/>
                </a:solidFill>
              </a:defRPr>
            </a:pPr>
            <a:r>
              <a:t>許閔琁 Min-Hsuan Hsu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</a:defRPr>
            </a:pPr>
            <a:r>
              <a:t>約1984-1985年生（約41歲）｜推測台灣彰化</a:t>
            </a:r>
            <a:br/>
            <a:r>
              <a:t>慶豐富實業董事長</a:t>
            </a:r>
            <a:br/>
            <a:r>
              <a:t>個人持股：8,997張（5.06%）｜質押率：0%</a:t>
            </a:r>
            <a:br/>
            <a:r>
              <a:t>投資興趣：窗簾製造、智能窗簾、電商通路、永續材料（rPET）、AI數據應用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651760"/>
          <a:ext cx="4846319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0277"/>
                <a:gridCol w="3826042"/>
              </a:tblGrid>
              <a:tr h="502920"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學歷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台灣師範大學生物系（學士）</a:t>
                      </a:r>
                    </a:p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陽明大學生化所（碩士）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</a:tr>
              <a:tr h="502920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現任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慶豐富實業董事長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0" y="10058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C5282"/>
                </a:solidFill>
              </a:defRPr>
            </a:pPr>
            <a:r>
              <a:t>職涯關鍵里程碑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37160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65D"/>
                </a:solidFill>
              </a:defRPr>
            </a:pPr>
            <a:r>
              <a:t>2000年代初 — 台灣師範大學生物系畢業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64592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65D"/>
                </a:solidFill>
              </a:defRPr>
            </a:pPr>
            <a:r>
              <a:t>2000年代中期 — 陽明大學生化所碩士畢業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19202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65D"/>
                </a:solidFill>
              </a:defRPr>
            </a:pPr>
            <a:r>
              <a:t>2005-2012年 — 中研院生醫所擔任助理研究員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1945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65D"/>
                </a:solidFill>
              </a:defRPr>
            </a:pPr>
            <a:r>
              <a:t>2012-2013年 — 27歲放棄學術夢想回家救火，進入慶豐富管理核心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4688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65D"/>
                </a:solidFill>
              </a:defRPr>
            </a:pPr>
            <a:r>
              <a:t>2013-06-24 — 初次出任慶豐富董事長（27歲少年董）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74320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65D"/>
                </a:solidFill>
              </a:defRPr>
            </a:pPr>
            <a:r>
              <a:t>2013年 — 上任第一件事：說服債權銀行展延9.8億元聯貸案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301752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65D"/>
                </a:solidFill>
              </a:defRPr>
            </a:pPr>
            <a:r>
              <a:t>2013-2019年 — 花6年厲行「斷捨離」，清掉轉投資的歷史共業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2918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65D"/>
                </a:solidFill>
              </a:defRPr>
            </a:pPr>
            <a:r>
              <a:t>2014-06-12 — 弟弟許竣然任董事，兄弟共同進入公司治理層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35661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65D"/>
                </a:solidFill>
              </a:defRPr>
            </a:pPr>
            <a:r>
              <a:t>2014年 — 導入ERP系統，整理公司資訊流；只留窗簾與家飾品本業，砍掉毛毯等非核心事業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38404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65D"/>
                </a:solidFill>
              </a:defRPr>
            </a:pPr>
            <a:r>
              <a:t>2018年 — 董事長任期屆滿後續任，接班穩定化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411480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65D"/>
                </a:solidFill>
              </a:defRPr>
            </a:pPr>
            <a:r>
              <a:t>2020年 — 下半年營收年成長24.93%，稱霸家具行業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438912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65D"/>
                </a:solidFill>
              </a:defRPr>
            </a:pPr>
            <a:r>
              <a:t>2023年 — 接班約9年，帶動毛利率創23%新高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4800600"/>
            <a:ext cx="5943600" cy="118872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0" y="489204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2400E"/>
                </a:solidFill>
              </a:defRPr>
            </a:pPr>
            <a:r>
              <a:t>核心經營哲學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516636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8350F"/>
                </a:solidFill>
              </a:defRPr>
            </a:pPr>
            <a:r>
              <a:t>「慶豐富的每一步轉型都是為了貼近消費者需求。」</a:t>
            </a:r>
            <a:br/>
            <a:r>
              <a:t>「3S：Safety、Smart、Sustainability」</a:t>
            </a:r>
            <a:br/>
            <a:r>
              <a:t>「現在川普的政策尚不明確，我不敢動，等他很明確了，我就動。」</a:t>
            </a:r>
            <a:br/>
            <a:r>
              <a:t>「沒有任何一家公司可以單憑己力創新轉型、擴展業務。」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1722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718096"/>
                </a:solidFill>
              </a:rPr>
              <a:t>資料來源：</a:t>
            </a:r>
            <a:r>
              <a:rPr sz="900">
                <a:solidFill>
                  <a:srgbClr val="718096"/>
                </a:solidFill>
                <a:hlinkClick r:id="rId2"/>
              </a:rPr>
              <a:t>  [1] 天下雜誌 - 慶豐富董事長專訪</a:t>
            </a:r>
          </a:p>
          <a:p>
            <a:r>
              <a:rPr sz="900">
                <a:solidFill>
                  <a:srgbClr val="718096"/>
                </a:solidFill>
                <a:hlinkClick r:id="rId3"/>
              </a:rPr>
              <a:t>[2] 經濟日報 - 慶豐富韌性供應鏈報導</a:t>
            </a:r>
          </a:p>
          <a:p>
            <a:r>
              <a:rPr sz="900">
                <a:solidFill>
                  <a:srgbClr val="718096"/>
                </a:solidFill>
                <a:hlinkClick r:id="rId4"/>
              </a:rPr>
              <a:t>[3] 鏡週刊 - 3S策略報導</a:t>
            </a:r>
          </a:p>
          <a:p>
            <a:r>
              <a:rPr sz="900">
                <a:solidFill>
                  <a:srgbClr val="718096"/>
                </a:solidFill>
                <a:hlinkClick r:id="rId5"/>
              </a:rPr>
              <a:t>[4] 遠見雜誌 - 川普政策觀點專訪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18096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朋友圈總覽  「家族接班核心」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3566160" cy="1188720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6A052"/>
                </a:solidFill>
              </a:defRPr>
            </a:pPr>
            <a:r>
              <a:t>1. 核心圈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家族接班核心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許竣然🟢、許培祥🔴、許培勳⚪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097280"/>
            <a:ext cx="3566160" cy="1188720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1887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6A052"/>
                </a:solidFill>
              </a:defRPr>
            </a:pPr>
            <a:r>
              <a:t>2. 企業圈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5087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董事會與經營團隊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783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楊任凱、陳俊仲、楊仁毓、郭秉宸、關旭強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097280"/>
            <a:ext cx="3566160" cy="1188720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11887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6A052"/>
                </a:solidFill>
              </a:defRPr>
            </a:pPr>
            <a:r>
              <a:t>3. 協會與政商圈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15087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地方政商關係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1783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王惠美🟢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468880"/>
            <a:ext cx="3566160" cy="1188720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5603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6A052"/>
                </a:solidFill>
              </a:defRPr>
            </a:pPr>
            <a:r>
              <a:t>4. 政策與產業推手圈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8803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供應鏈與產業夥伴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154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林靖霖🟢、台塑🟡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2468880"/>
            <a:ext cx="3566160" cy="1188720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25603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6A052"/>
                </a:solidFill>
              </a:defRPr>
            </a:pPr>
            <a:r>
              <a:t>5. 學術校友圈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28803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台師大/陽明/中研院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3154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郭秉宸🟢、關旭強🟢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0" y="2468880"/>
            <a:ext cx="3566160" cy="1188720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1000" y="25603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6A052"/>
                </a:solidFill>
              </a:defRPr>
            </a:pPr>
            <a:r>
              <a:t>6. 思想與論壇引路人圈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28803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經營理念啟發者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3154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自身哲學體系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840480"/>
            <a:ext cx="3566160" cy="1188720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9319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6A052"/>
                </a:solidFill>
              </a:defRPr>
            </a:pPr>
            <a:r>
              <a:t>7. 媒體與公開平台圈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2519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財經媒體曝光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4526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天下雜誌、鏡週刊、經濟日報、財訊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60520" y="3840480"/>
            <a:ext cx="3566160" cy="1188720"/>
          </a:xfrm>
          <a:prstGeom prst="round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0" y="39319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6A052"/>
                </a:solidFill>
              </a:defRPr>
            </a:pPr>
            <a:r>
              <a:t>8. 必須迴避對象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42519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⚠️ 高風險名單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4526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許培祥相關人員、洪誼靜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1722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718096"/>
                </a:solidFill>
              </a:rPr>
              <a:t>資料來源：</a:t>
            </a:r>
            <a:r>
              <a:rPr sz="900">
                <a:solidFill>
                  <a:srgbClr val="718096"/>
                </a:solidFill>
                <a:hlinkClick r:id="rId2"/>
              </a:rPr>
              <a:t>  [1] 天下雜誌</a:t>
            </a:r>
          </a:p>
          <a:p>
            <a:r>
              <a:rPr sz="900">
                <a:solidFill>
                  <a:srgbClr val="718096"/>
                </a:solidFill>
                <a:hlinkClick r:id="rId3"/>
              </a:rPr>
              <a:t>[2] Yahoo股市</a:t>
            </a:r>
          </a:p>
          <a:p>
            <a:r>
              <a:rPr sz="900">
                <a:solidFill>
                  <a:srgbClr val="718096"/>
                </a:solidFill>
                <a:hlinkClick r:id="rId4"/>
              </a:rPr>
              <a:t>[3] 自由財經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18096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核心圈  家族接班核心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A169"/>
                </a:solidFill>
              </a:defRPr>
            </a:pPr>
            <a:r>
              <a:t>🟢 正向關係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80160"/>
          <a:ext cx="11338558" cy="768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948"/>
                <a:gridCol w="3334870"/>
                <a:gridCol w="1111623"/>
                <a:gridCol w="5558117"/>
              </a:tblGrid>
              <a:tr h="384048"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姓名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職位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關係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關鍵互動脈絡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</a:tr>
              <a:tr h="384048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許竣然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慶豐富實業總經理暨董事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🟢正向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親弟弟與最重要事業夥伴，兄弟分工：哥管大方向弟管營運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223113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53030"/>
                </a:solidFill>
              </a:defRPr>
            </a:pPr>
            <a:r>
              <a:t>🔴 負向關係（須迴避）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505456"/>
          <a:ext cx="11338558" cy="768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948"/>
                <a:gridCol w="3334870"/>
                <a:gridCol w="1111623"/>
                <a:gridCol w="5558117"/>
              </a:tblGrid>
              <a:tr h="384048"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姓名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職位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關係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關鍵互動脈絡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</a:tr>
              <a:tr h="384048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許培祥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慶豐富前董事長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🔴負向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父親，因違反證券交易法（炒股案）被判刑3年6月至7年6月 ❌絕對迴避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61722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718096"/>
                </a:solidFill>
              </a:rPr>
              <a:t>資料來源：</a:t>
            </a:r>
            <a:r>
              <a:rPr sz="900">
                <a:solidFill>
                  <a:srgbClr val="718096"/>
                </a:solidFill>
                <a:hlinkClick r:id="rId2"/>
              </a:rPr>
              <a:t>  [1] 天下雜誌</a:t>
            </a:r>
          </a:p>
          <a:p>
            <a:r>
              <a:rPr sz="900">
                <a:solidFill>
                  <a:srgbClr val="718096"/>
                </a:solidFill>
                <a:hlinkClick r:id="rId3"/>
              </a:rPr>
              <a:t>[2] Yahoo股市</a:t>
            </a:r>
          </a:p>
          <a:p>
            <a:r>
              <a:rPr sz="900">
                <a:solidFill>
                  <a:srgbClr val="718096"/>
                </a:solidFill>
                <a:hlinkClick r:id="rId4"/>
              </a:rPr>
              <a:t>[3] 自由財經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18096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企業圈  慶豐富實業董事會與經營團隊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C5282"/>
                </a:solidFill>
              </a:defRPr>
            </a:pPr>
            <a:r>
              <a:t>現任董事會成員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53035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3093720"/>
                <a:gridCol w="883920"/>
              </a:tblGrid>
              <a:tr h="347472"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姓名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職位/背景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關係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</a:tr>
              <a:tr h="347472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許閔琁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董事長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🟢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許竣然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總經理暨董事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🟢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楊任凱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吉宬投資有限公司代表人/董事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🟡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陳俊仲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立邦興投資股份有限公司代表人/董事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🟡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1722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718096"/>
                </a:solidFill>
              </a:rPr>
              <a:t>資料來源：</a:t>
            </a:r>
            <a:r>
              <a:rPr sz="900">
                <a:solidFill>
                  <a:srgbClr val="718096"/>
                </a:solidFill>
                <a:hlinkClick r:id="rId2"/>
              </a:rPr>
              <a:t>  [1] 慶豐富公司治理頁面</a:t>
            </a:r>
          </a:p>
          <a:p>
            <a:r>
              <a:rPr sz="900">
                <a:solidFill>
                  <a:srgbClr val="718096"/>
                </a:solidFill>
                <a:hlinkClick r:id="rId3"/>
              </a:rPr>
              <a:t>[2] 公開資訊觀測站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18096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協會與政商圈  地方政商關係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C5282"/>
                </a:solidFill>
              </a:defRPr>
            </a:pPr>
            <a:r>
              <a:t>彰化縣政府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</a:defRPr>
            </a:pPr>
            <a:r>
              <a:t>慶豐富總部位於彰化，與地方政府關係良好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645920"/>
          <a:ext cx="1133855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0298"/>
                <a:gridCol w="3580597"/>
                <a:gridCol w="1193532"/>
                <a:gridCol w="4774130"/>
              </a:tblGrid>
              <a:tr h="365760"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姓名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職稱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關係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互動事證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</a:tr>
              <a:tr h="365760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王惠美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彰化縣長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🟢正向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出席慶豐富50週年活動並公開肯定企業發展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1722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718096"/>
                </a:solidFill>
              </a:rPr>
              <a:t>資料來源：</a:t>
            </a:r>
            <a:r>
              <a:rPr sz="900">
                <a:solidFill>
                  <a:srgbClr val="718096"/>
                </a:solidFill>
                <a:hlinkClick r:id="rId2"/>
              </a:rPr>
              <a:t>  [1] Yahoo股市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18096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政策與產業推手圈  供應鏈與產業夥伴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05840"/>
          <a:ext cx="1133856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712"/>
                <a:gridCol w="2267712"/>
                <a:gridCol w="2267712"/>
                <a:gridCol w="2267712"/>
                <a:gridCol w="2267712"/>
              </a:tblGrid>
              <a:tr h="365760"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姓名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現任職稱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所屬領域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關係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互動事證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</a:tr>
              <a:tr h="365760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林靖霖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丸紅化學品部副部長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化學與材料供應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🟢正向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與慶豐富窗簾供應鏈長期合作，代表上游化學/材料端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台塑集團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石化材料供應商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石化與材料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🟡中性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合作開發寶特瓶rPET材質蜂巢簾環保產品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1722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718096"/>
                </a:solidFill>
              </a:rPr>
              <a:t>資料來源：</a:t>
            </a:r>
            <a:r>
              <a:rPr sz="900">
                <a:solidFill>
                  <a:srgbClr val="718096"/>
                </a:solidFill>
                <a:hlinkClick r:id="rId2"/>
              </a:rPr>
              <a:t>  [1] 天下雜誌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18096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學術校友圈  台灣師範大學、陽明大學、中研院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5486400" cy="137160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65D"/>
                </a:solidFill>
              </a:defRPr>
            </a:pPr>
            <a:r>
              <a:t>學歷背景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</a:defRPr>
            </a:pPr>
            <a:r>
              <a:t>• 台灣師範大學生物系（學士）</a:t>
            </a:r>
            <a:br/>
            <a:r>
              <a:t>• 陽明大學生化所（碩士）</a:t>
            </a:r>
            <a:br/>
            <a:r>
              <a:t>• 中研院生醫所（助理研究員）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005840"/>
            <a:ext cx="5486400" cy="137160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0972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2400E"/>
                </a:solidFill>
              </a:defRPr>
            </a:pPr>
            <a:r>
              <a:t>母校貢獻與榮譽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3716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8350F"/>
                </a:solidFill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65760" y="25603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C5282"/>
                </a:solidFill>
              </a:defRPr>
            </a:pPr>
            <a:r>
              <a:t>校友圈人物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2926080"/>
          <a:ext cx="1133856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784"/>
                <a:gridCol w="3401568"/>
                <a:gridCol w="1133856"/>
                <a:gridCol w="5102352"/>
              </a:tblGrid>
              <a:tr h="365760"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校友名稱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現任職稱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關係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互動證據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</a:tr>
              <a:tr h="365760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郭秉宸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獨立董事/清華大學跨域國際博士學程博士候選人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🟢正向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擔任慶豐富獨立董事參與公司治理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關旭強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獨立董事/清華大學化工博士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🟢正向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擔任慶豐富獨立董事參與公司治理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365760" y="5120640"/>
            <a:ext cx="11338560" cy="45720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166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</a:defRPr>
            </a:pPr>
            <a:r>
              <a:t>許閔琁原有學術志向，曾於中研院生醫所任職，後因家族企業危機放棄學術路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1722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718096"/>
                </a:solidFill>
              </a:rPr>
              <a:t>資料來源：</a:t>
            </a:r>
            <a:r>
              <a:rPr sz="900">
                <a:solidFill>
                  <a:srgbClr val="718096"/>
                </a:solidFill>
                <a:hlinkClick r:id="rId2"/>
              </a:rPr>
              <a:t>  [1] 天下雜誌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18096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思想與論壇引路人圈  經營理念與啟發者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C5282"/>
                </a:solidFill>
              </a:defRPr>
            </a:pPr>
            <a:r>
              <a:t>思想影響者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3832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C5282"/>
                </a:solidFill>
              </a:defRPr>
            </a:pPr>
            <a:r>
              <a:t>許閔琁經典語錄（反映經營哲學）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749039"/>
            <a:ext cx="11338560" cy="41148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822191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8350F"/>
                </a:solidFill>
              </a:defRPr>
            </a:pPr>
            <a:r>
              <a:t>「慶豐富的每一步轉型都是為了貼近消費者需求。」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4251959"/>
            <a:ext cx="11338560" cy="41148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325111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8350F"/>
                </a:solidFill>
              </a:defRPr>
            </a:pPr>
            <a:r>
              <a:t>「3S：Safety、Smart、Sustainability」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754879"/>
            <a:ext cx="11338560" cy="41148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828031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8350F"/>
                </a:solidFill>
              </a:defRPr>
            </a:pPr>
            <a:r>
              <a:t>「現在川普的政策尚不明確，我不敢動，等他很明確了，我就動。」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257799"/>
            <a:ext cx="11338560" cy="41148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330951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8350F"/>
                </a:solidFill>
              </a:defRPr>
            </a:pPr>
            <a:r>
              <a:t>「沒有任何一家公司可以單憑己力創新轉型、擴展業務。」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1722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718096"/>
                </a:solidFill>
              </a:rPr>
              <a:t>資料來源：</a:t>
            </a:r>
            <a:r>
              <a:rPr sz="900">
                <a:solidFill>
                  <a:srgbClr val="718096"/>
                </a:solidFill>
                <a:hlinkClick r:id="rId2"/>
              </a:rPr>
              <a:t>  [1] 經濟日報專訪</a:t>
            </a:r>
          </a:p>
          <a:p>
            <a:r>
              <a:rPr sz="900">
                <a:solidFill>
                  <a:srgbClr val="718096"/>
                </a:solidFill>
                <a:hlinkClick r:id="rId3"/>
              </a:rPr>
              <a:t>[2] 鏡週刊報導</a:t>
            </a:r>
          </a:p>
          <a:p>
            <a:r>
              <a:rPr sz="900">
                <a:solidFill>
                  <a:srgbClr val="718096"/>
                </a:solidFill>
                <a:hlinkClick r:id="rId4"/>
              </a:rPr>
              <a:t>[3] 遠見雜誌</a:t>
            </a:r>
          </a:p>
          <a:p>
            <a:r>
              <a:rPr sz="900">
                <a:solidFill>
                  <a:srgbClr val="718096"/>
                </a:solidFill>
                <a:hlinkClick r:id="rId5"/>
              </a:rPr>
              <a:t>[4] 商業周刊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18096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媒體與公開平台圈  重要曝光與訴訟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A169"/>
                </a:solidFill>
              </a:defRPr>
            </a:pPr>
            <a:r>
              <a:t>🟢 正面事件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80160"/>
          <a:ext cx="11338558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708"/>
                <a:gridCol w="2337847"/>
                <a:gridCol w="1168923"/>
                <a:gridCol w="6429080"/>
              </a:tblGrid>
              <a:tr h="347472"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時間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媒體/平台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性質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內容摘要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</a:tr>
              <a:tr h="347472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2020年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天下雜誌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🟢正面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報導慶豐富下半年營收年增24.93%，稱霸家具行業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2023年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天下雜誌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🟢正面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報導接班9年帶動毛利率創23%新高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2024年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經濟日報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🟢正面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報導韌性供應鏈與三路布局策略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2024年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鏡週刊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🟢正面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報導3S策略領航全球窗簾市場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2024年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財訊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🟢正面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報導兄弟分工接班家族治理穩定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2025年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各媒體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🟢正面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報導擴張美國電商與亞特蘭大產能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389534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53030"/>
                </a:solidFill>
              </a:defRPr>
            </a:pPr>
            <a:r>
              <a:t>🔴 負面事件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4169664"/>
          <a:ext cx="11338558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708"/>
                <a:gridCol w="2337847"/>
                <a:gridCol w="1168923"/>
                <a:gridCol w="6429080"/>
              </a:tblGrid>
              <a:tr h="347472"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時間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媒體/平台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性質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內容摘要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</a:tr>
              <a:tr h="347472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2012年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自由時報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🔴負面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前董事長許培祥等5人因炒股案被判刑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2018年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公開資訊觀測站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🔴負面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公司公告前任董事長違反證券交易法起訴說明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2023年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勞動部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🔴負面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被罰2萬元（特別休假工資問題）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2021年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勞動部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🔴負面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被罰5千元（勞退申報問題）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61722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718096"/>
                </a:solidFill>
              </a:rPr>
              <a:t>資料來源：</a:t>
            </a:r>
            <a:r>
              <a:rPr sz="900">
                <a:solidFill>
                  <a:srgbClr val="718096"/>
                </a:solidFill>
                <a:hlinkClick r:id="rId2"/>
              </a:rPr>
              <a:t>  [1] 天下雜誌</a:t>
            </a:r>
          </a:p>
          <a:p>
            <a:r>
              <a:rPr sz="900">
                <a:solidFill>
                  <a:srgbClr val="718096"/>
                </a:solidFill>
                <a:hlinkClick r:id="rId3"/>
              </a:rPr>
              <a:t>[2] 經濟日報</a:t>
            </a:r>
          </a:p>
          <a:p>
            <a:r>
              <a:rPr sz="900">
                <a:solidFill>
                  <a:srgbClr val="718096"/>
                </a:solidFill>
                <a:hlinkClick r:id="rId4"/>
              </a:rPr>
              <a:t>[3] 鏡週刊</a:t>
            </a:r>
          </a:p>
          <a:p>
            <a:r>
              <a:rPr sz="900">
                <a:solidFill>
                  <a:srgbClr val="718096"/>
                </a:solidFill>
                <a:hlinkClick r:id="rId5"/>
              </a:rPr>
              <a:t>[4] 財訊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18096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必須迴避對象與引薦建議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53030"/>
                </a:solidFill>
              </a:defRPr>
            </a:pPr>
            <a:r>
              <a:t>❌ 必須迴避對象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80160"/>
          <a:ext cx="5486398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42"/>
                <a:gridCol w="1567542"/>
                <a:gridCol w="2351314"/>
              </a:tblGrid>
              <a:tr h="347472"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姓名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現職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迴避原因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</a:tr>
              <a:tr h="347472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許培祥及相關人員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慶豐富前董事長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因違反證券交易法（炒股案）被判刑，高風險司法案件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洪誼靜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炒股案共犯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同案被判刑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26480" y="1005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A169"/>
                </a:solidFill>
              </a:defRPr>
            </a:pPr>
            <a:r>
              <a:t>✅ 優先引薦管道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1280160"/>
          <a:ext cx="5394959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1417"/>
                <a:gridCol w="1541417"/>
                <a:gridCol w="2312125"/>
              </a:tblGrid>
              <a:tr h="347472"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姓名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現職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引薦方式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</a:tr>
              <a:tr h="347472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許竣然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慶豐富總經理暨董事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透過產業活動或法說會接觸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楊任凱/陳俊仲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法人董事代表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透過投資法人管道接觸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王惠美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彰化縣長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透過地方政商活動或慶豐富企業活動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61722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718096"/>
                </a:solidFill>
              </a:rPr>
              <a:t>資料來源：</a:t>
            </a:r>
            <a:r>
              <a:rPr sz="900">
                <a:solidFill>
                  <a:srgbClr val="718096"/>
                </a:solidFill>
                <a:hlinkClick r:id="rId2"/>
              </a:rPr>
              <a:t>  [1] 自由財經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18096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家族樹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11887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18096"/>
                </a:solidFill>
              </a:defRPr>
            </a:pPr>
            <a:r>
              <a:t>G0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40910" y="1051560"/>
            <a:ext cx="1417320" cy="777240"/>
          </a:xfrm>
          <a:prstGeom prst="roundRect">
            <a:avLst/>
          </a:prstGeom>
          <a:solidFill>
            <a:srgbClr val="BEE3F8"/>
          </a:solidFill>
          <a:ln w="1270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1">
                <a:solidFill>
                  <a:srgbClr val="2D3748"/>
                </a:solidFill>
              </a:defRPr>
            </a:pPr>
            <a:r>
              <a:t>許培祥</a:t>
            </a:r>
          </a:p>
          <a:p>
            <a:pPr algn="ctr">
              <a:defRPr sz="800">
                <a:solidFill>
                  <a:srgbClr val="718096"/>
                </a:solidFill>
              </a:defRPr>
            </a:pPr>
            <a:r>
              <a:t>父親</a:t>
            </a:r>
          </a:p>
          <a:p>
            <a:pPr algn="ctr">
              <a:defRPr sz="700">
                <a:solidFill>
                  <a:srgbClr val="718096"/>
                </a:solidFill>
              </a:defRPr>
            </a:pPr>
            <a:r>
              <a:t>慶豐富前董事長（已判刑）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2550" y="1051560"/>
            <a:ext cx="1417320" cy="777240"/>
          </a:xfrm>
          <a:prstGeom prst="roundRect">
            <a:avLst/>
          </a:prstGeom>
          <a:solidFill>
            <a:srgbClr val="BEE3F8"/>
          </a:solidFill>
          <a:ln w="1270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1">
                <a:solidFill>
                  <a:srgbClr val="2D3748"/>
                </a:solidFill>
              </a:defRPr>
            </a:pPr>
            <a:r>
              <a:t>許培勳</a:t>
            </a:r>
          </a:p>
          <a:p>
            <a:pPr algn="ctr">
              <a:defRPr sz="800">
                <a:solidFill>
                  <a:srgbClr val="718096"/>
                </a:solidFill>
              </a:defRPr>
            </a:pPr>
            <a:r>
              <a:t>叔父/創辦人之一</a:t>
            </a:r>
          </a:p>
          <a:p>
            <a:pPr algn="ctr">
              <a:defRPr sz="700">
                <a:solidFill>
                  <a:srgbClr val="718096"/>
                </a:solidFill>
              </a:defRPr>
            </a:pPr>
            <a:r>
              <a:t>慶豐富創辦人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237744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18096"/>
                </a:solidFill>
              </a:defRPr>
            </a:pPr>
            <a:r>
              <a:t>G1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40910" y="2240280"/>
            <a:ext cx="1417320" cy="777240"/>
          </a:xfrm>
          <a:prstGeom prst="roundRect">
            <a:avLst/>
          </a:prstGeom>
          <a:solidFill>
            <a:srgbClr val="C6F6D5"/>
          </a:solidFill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1">
                <a:solidFill>
                  <a:srgbClr val="1A365D"/>
                </a:solidFill>
              </a:defRPr>
            </a:pPr>
            <a:r>
              <a:t>許閔琁</a:t>
            </a:r>
          </a:p>
          <a:p>
            <a:pPr algn="ctr">
              <a:defRPr sz="800">
                <a:solidFill>
                  <a:srgbClr val="718096"/>
                </a:solidFill>
              </a:defRPr>
            </a:pPr>
            <a:r>
              <a:t>本人</a:t>
            </a:r>
          </a:p>
          <a:p>
            <a:pPr algn="ctr">
              <a:defRPr sz="700">
                <a:solidFill>
                  <a:srgbClr val="718096"/>
                </a:solidFill>
              </a:defRPr>
            </a:pPr>
            <a:r>
              <a:t>慶豐富董事長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2550" y="2240280"/>
            <a:ext cx="1417320" cy="777240"/>
          </a:xfrm>
          <a:prstGeom prst="roundRect">
            <a:avLst/>
          </a:prstGeom>
          <a:solidFill>
            <a:srgbClr val="C6F6D5"/>
          </a:solidFill>
          <a:ln w="1270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1">
                <a:solidFill>
                  <a:srgbClr val="2D3748"/>
                </a:solidFill>
              </a:defRPr>
            </a:pPr>
            <a:r>
              <a:t>許竣然</a:t>
            </a:r>
          </a:p>
          <a:p>
            <a:pPr algn="ctr">
              <a:defRPr sz="800">
                <a:solidFill>
                  <a:srgbClr val="718096"/>
                </a:solidFill>
              </a:defRPr>
            </a:pPr>
            <a:r>
              <a:t>弟弟</a:t>
            </a:r>
          </a:p>
          <a:p>
            <a:pPr algn="ctr">
              <a:defRPr sz="700">
                <a:solidFill>
                  <a:srgbClr val="718096"/>
                </a:solidFill>
              </a:defRPr>
            </a:pPr>
            <a:r>
              <a:t>慶豐富總經理暨董事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0818" y="1828800"/>
            <a:ext cx="9144" cy="185166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49570" y="2009394"/>
            <a:ext cx="1691640" cy="914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44998" y="2013966"/>
            <a:ext cx="9144" cy="22631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36638" y="2013966"/>
            <a:ext cx="9144" cy="226314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18096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核心成員介紹 - 父親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5282"/>
                </a:solidFill>
              </a:defRPr>
            </a:pPr>
            <a:r>
              <a:t>許培祥（父親）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53035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3977640"/>
              </a:tblGrid>
              <a:tr h="320040"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姓名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許培祥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</a:tr>
              <a:tr h="320040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關係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父親（許閔琁之父）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職位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慶豐富前董事長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現況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因違反證券交易法（炒股案）被判刑3年6月至7年6月，已卸任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1722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718096"/>
                </a:solidFill>
              </a:rPr>
              <a:t>資料來源：</a:t>
            </a:r>
            <a:r>
              <a:rPr sz="900">
                <a:solidFill>
                  <a:srgbClr val="718096"/>
                </a:solidFill>
                <a:hlinkClick r:id="rId2"/>
              </a:rPr>
              <a:t>  [1] 自由財經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18096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核心成員介紹 - 叔父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5282"/>
                </a:solidFill>
              </a:defRPr>
            </a:pPr>
            <a:r>
              <a:t>許培勳（叔父/創辦人之一）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53035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3977640"/>
              </a:tblGrid>
              <a:tr h="320040"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姓名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許培勳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</a:tr>
              <a:tr h="320040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關係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叔父/創辦人之一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職位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慶豐富創辦人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現況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與許培祥並列為創辦昆仲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2788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65D"/>
                </a:solidFill>
              </a:defRPr>
            </a:pPr>
            <a:r>
              <a:t>重要成就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</a:defRPr>
            </a:pPr>
            <a:r>
              <a:t>• 慶豐富創辦人，奠定企業基礎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1722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718096"/>
                </a:solidFill>
              </a:rPr>
              <a:t>資料來源：</a:t>
            </a:r>
            <a:r>
              <a:rPr sz="900">
                <a:solidFill>
                  <a:srgbClr val="718096"/>
                </a:solidFill>
                <a:hlinkClick r:id="rId2"/>
              </a:rPr>
              <a:t>  [1] 慶豐富公司網站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18096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核心成員介紹 - 弟弟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5282"/>
                </a:solidFill>
              </a:defRPr>
            </a:pPr>
            <a:r>
              <a:t>許竣然（弟弟）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53035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3977640"/>
              </a:tblGrid>
              <a:tr h="320040"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姓名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許竣然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</a:tr>
              <a:tr h="320040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關係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弟弟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職位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慶豐富總經理暨董事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任職時間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2014年起任董事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職責分工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管理營運面，與許閔琁（哥哥）分工協力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3108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65D"/>
                </a:solidFill>
              </a:defRPr>
            </a:pPr>
            <a:r>
              <a:t>重要成就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</a:defRPr>
            </a:pPr>
            <a:r>
              <a:t>• 與兄長共同接班，協力推動公司轉型升級</a:t>
            </a:r>
            <a:br/>
            <a:r>
              <a:t>• 主導日常營運管理，支撐3S策略執行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1722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718096"/>
                </a:solidFill>
              </a:rPr>
              <a:t>資料來源：</a:t>
            </a:r>
            <a:r>
              <a:rPr sz="900">
                <a:solidFill>
                  <a:srgbClr val="718096"/>
                </a:solidFill>
                <a:hlinkClick r:id="rId2"/>
              </a:rPr>
              <a:t>  [1] 天下雜誌</a:t>
            </a:r>
          </a:p>
          <a:p>
            <a:r>
              <a:rPr sz="900">
                <a:solidFill>
                  <a:srgbClr val="718096"/>
                </a:solidFill>
                <a:hlinkClick r:id="rId3"/>
              </a:rPr>
              <a:t>[2] Yahoo股市 - 慶豐富董事改選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18096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家族企業版圖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C5282"/>
                </a:solidFill>
              </a:defRPr>
            </a:pPr>
            <a:r>
              <a:t>家族關聯企業與任職總覽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71600"/>
          <a:ext cx="1133856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784"/>
                <a:gridCol w="1700784"/>
                <a:gridCol w="3401568"/>
                <a:gridCol w="4535424"/>
              </a:tblGrid>
              <a:tr h="347472"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成員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與主角關係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職務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參與程度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</a:tr>
              <a:tr h="347472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許閔琁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本人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董事長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核心領導/策略方向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許竣然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弟弟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總經理暨董事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營運管理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許培祥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父親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前董事長（已卸任）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已退出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30358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C5282"/>
                </a:solidFill>
              </a:defRPr>
            </a:pPr>
            <a:r>
              <a:t>家族關聯投資控股公司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3401568"/>
          <a:ext cx="1133856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1568"/>
                <a:gridCol w="2267712"/>
                <a:gridCol w="5669280"/>
              </a:tblGrid>
              <a:tr h="347472"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投資公司名稱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代表人/關聯人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200" b="1">
                          <a:solidFill>
                            <a:srgbClr val="2D3748"/>
                          </a:solidFill>
                        </a:defRPr>
                      </a:pPr>
                      <a:r>
                        <a:t>說明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</a:tr>
              <a:tr h="347472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吉宬投資有限公司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楊任凱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法人董事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立邦興投資股份有限公司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陳俊仲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法人董事/持股2.30%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百昱投資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 anchor="ctr"/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200" b="0">
                          <a:solidFill>
                            <a:srgbClr val="2D3748"/>
                          </a:solidFill>
                        </a:defRPr>
                      </a:pPr>
                      <a:r>
                        <a:t>家族關聯持股1.83%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61722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718096"/>
                </a:solidFill>
              </a:rPr>
              <a:t>資料來源：</a:t>
            </a:r>
            <a:r>
              <a:rPr sz="900">
                <a:solidFill>
                  <a:srgbClr val="718096"/>
                </a:solidFill>
                <a:hlinkClick r:id="rId2"/>
              </a:rPr>
              <a:t>  [1] 慶豐富年報</a:t>
            </a:r>
          </a:p>
          <a:p>
            <a:r>
              <a:rPr sz="900">
                <a:solidFill>
                  <a:srgbClr val="718096"/>
                </a:solidFill>
                <a:hlinkClick r:id="rId3"/>
              </a:rPr>
              <a:t>[2] 公開資訊觀測站</a:t>
            </a:r>
          </a:p>
          <a:p>
            <a:r>
              <a:rPr sz="900">
                <a:solidFill>
                  <a:srgbClr val="718096"/>
                </a:solidFill>
                <a:hlinkClick r:id="rId4"/>
              </a:rPr>
              <a:t>[3] 天下雜誌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18096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許閔琁與慶豐富實業 - 人脈網絡與企業版圖總覽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A169"/>
                </a:solidFill>
              </a:defRPr>
            </a:pPr>
            <a:r>
              <a:t>✓ 正面觀察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</a:defRPr>
            </a:pPr>
            <a:r>
              <a:t>• 27歲臨危受命接班，展現卓越危機處理能力，成功展延9.8億聯貸</a:t>
            </a:r>
            <a:br/>
            <a:r>
              <a:t>• 花6年斷捨離清理歷史共業，聚焦本業窗簾製造</a:t>
            </a:r>
            <a:br/>
            <a:r>
              <a:t>• 帶動毛利率突破23%新高，2024年EPS成長近3倍</a:t>
            </a:r>
            <a:br/>
            <a:r>
              <a:t>• 佈局全球供應鏈（台灣37%、越南52%、美國亞特蘭大），有效分散關稅風險</a:t>
            </a:r>
            <a:br/>
            <a:r>
              <a:t>• 推動3S策略（Safety、Smart、Sustainability）引領產業轉型升級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0058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69E2E"/>
                </a:solidFill>
              </a:defRPr>
            </a:pPr>
            <a:r>
              <a:t>⚠ 風險關注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37160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</a:defRPr>
            </a:pPr>
            <a:r>
              <a:t>• 父親許培祥炒股案判刑記錄，家族聲譽風險仍存</a:t>
            </a:r>
            <a:br/>
            <a:r>
              <a:t>• 高度依賴美國市場，川普關稅政策不確定性</a:t>
            </a:r>
            <a:br/>
            <a:r>
              <a:t>• 家族資訊透明度偏低，四親等以外資訊難以查證</a:t>
            </a:r>
            <a:br/>
            <a:r>
              <a:t>• 勞動法規遵循曾有瑕疵（2021、2023年裁罰紀錄）</a:t>
            </a:r>
            <a:br/>
            <a:r>
              <a:t>• 營收百億目標激進，需觀察執行力與資本支出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0058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5282"/>
                </a:solidFill>
              </a:defRPr>
            </a:pPr>
            <a:r>
              <a:t>➤ 建議追蹤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137160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</a:defRPr>
            </a:pPr>
            <a:r>
              <a:t>• 美國電商通路擴張進度與亞特蘭大產能擴增時程</a:t>
            </a:r>
            <a:br/>
            <a:r>
              <a:t>• 2025-2028年營收百億目標達成進度</a:t>
            </a:r>
            <a:br/>
            <a:r>
              <a:t>• 智能窗簾與rPET永續產品市場接受度</a:t>
            </a:r>
            <a:br/>
            <a:r>
              <a:t>• 董事會組成變動與獨董專業度</a:t>
            </a:r>
            <a:br/>
            <a:r>
              <a:t>• 家族持股結構變化與法人董事代表異動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931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65D"/>
                </a:solidFill>
              </a:defRPr>
            </a:pPr>
            <a:r>
              <a:t>關鍵結論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297680"/>
            <a:ext cx="11338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</a:defRPr>
            </a:pPr>
            <a:r>
              <a:t>許閔琁家族展現台灣傳產二代接班人逆境重生的典型案例。27歲臨危受命，花6年清理歷史共業，再花6年將毛利推至新高。全球供應鏈布局完整，3S策略方向清晰，但需留意家族過往司法風險對授信與聲譽的潛在影響，以及美國市場集中度偏高的經營風險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1722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718096"/>
                </a:solidFill>
              </a:rPr>
              <a:t>資料來源：</a:t>
            </a:r>
            <a:r>
              <a:rPr sz="900">
                <a:solidFill>
                  <a:srgbClr val="718096"/>
                </a:solidFill>
                <a:hlinkClick r:id="rId2"/>
              </a:rPr>
              <a:t>  [1] 天下雜誌</a:t>
            </a:r>
          </a:p>
          <a:p>
            <a:r>
              <a:rPr sz="900">
                <a:solidFill>
                  <a:srgbClr val="718096"/>
                </a:solidFill>
                <a:hlinkClick r:id="rId3"/>
              </a:rPr>
              <a:t>[2] 經濟日報</a:t>
            </a:r>
          </a:p>
          <a:p>
            <a:r>
              <a:rPr sz="900">
                <a:solidFill>
                  <a:srgbClr val="718096"/>
                </a:solidFill>
                <a:hlinkClick r:id="rId4"/>
              </a:rPr>
              <a:t>[3] 鏡週刊</a:t>
            </a:r>
          </a:p>
          <a:p>
            <a:r>
              <a:rPr sz="900">
                <a:solidFill>
                  <a:srgbClr val="718096"/>
                </a:solidFill>
                <a:hlinkClick r:id="rId5"/>
              </a:rPr>
              <a:t>[4] 財訊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18096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